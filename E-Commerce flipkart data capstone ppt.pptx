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16"/>
  </p:notesMasterIdLst>
  <p:sldIdLst>
    <p:sldId id="257" r:id="rId2"/>
    <p:sldId id="258" r:id="rId3"/>
    <p:sldId id="266" r:id="rId4"/>
    <p:sldId id="268" r:id="rId5"/>
    <p:sldId id="265" r:id="rId6"/>
    <p:sldId id="264" r:id="rId7"/>
    <p:sldId id="269" r:id="rId8"/>
    <p:sldId id="270" r:id="rId9"/>
    <p:sldId id="271" r:id="rId10"/>
    <p:sldId id="272" r:id="rId11"/>
    <p:sldId id="273" r:id="rId12"/>
    <p:sldId id="274" r:id="rId13"/>
    <p:sldId id="275" r:id="rId14"/>
    <p:sldId id="27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781C45-F5CE-44A7-A17C-555C338613DD}" type="datetimeFigureOut">
              <a:rPr lang="en-IN" smtClean="0"/>
              <a:t>26-02-26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8A950-8016-4F87-AE61-6C1B1BBE05E9}" type="slidenum">
              <a:rPr lang="en-IN" smtClean="0"/>
              <a:t>‹#›</a:t>
            </a:fld>
            <a:endParaRPr lang="en-IN"/>
          </a:p>
        </p:txBody>
      </p:sp>
    </p:spTree>
    <p:extLst>
      <p:ext uri="{BB962C8B-B14F-4D97-AF65-F5344CB8AC3E}">
        <p14:creationId xmlns:p14="http://schemas.microsoft.com/office/powerpoint/2010/main" val="4059323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Notes to presenter: </a:t>
            </a:r>
          </a:p>
          <a:p>
            <a:r>
              <a:rPr lang="en-US" i="1" dirty="0"/>
              <a:t>What is your purpose for sharing this reflection</a:t>
            </a:r>
            <a:r>
              <a:rPr lang="en-US" i="1" baseline="0" dirty="0"/>
              <a:t>?</a:t>
            </a:r>
          </a:p>
          <a:p>
            <a:r>
              <a:rPr lang="en-US" i="1" baseline="0" dirty="0"/>
              <a:t>Is it at the end of a unit or project?  </a:t>
            </a:r>
          </a:p>
          <a:p>
            <a:r>
              <a:rPr lang="en-US" i="1" baseline="0" dirty="0"/>
              <a:t>Are you sharing this reflection, at the attainment of a learning goal you set for yourself?  </a:t>
            </a:r>
          </a:p>
          <a:p>
            <a:r>
              <a:rPr lang="en-US" i="1" baseline="0" dirty="0"/>
              <a:t>Is it at the end of a course?  </a:t>
            </a:r>
          </a:p>
          <a:p>
            <a:endParaRPr lang="en-US" baseline="0" dirty="0"/>
          </a:p>
          <a:p>
            <a:r>
              <a:rPr lang="en-US" baseline="0" dirty="0"/>
              <a:t>State your purpose for the reflection or even the purpose of the learning experience or learning goal.  Be clear and be specific in stating your purpose.</a:t>
            </a:r>
            <a:endParaRPr lang="en-US" dirty="0"/>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2</a:t>
            </a:fld>
            <a:endParaRPr lang="en-US" dirty="0"/>
          </a:p>
        </p:txBody>
      </p:sp>
    </p:spTree>
    <p:extLst>
      <p:ext uri="{BB962C8B-B14F-4D97-AF65-F5344CB8AC3E}">
        <p14:creationId xmlns:p14="http://schemas.microsoft.com/office/powerpoint/2010/main" val="3144734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Description of what you learned in your own words on one side.</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Include information about the topic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Details about the topic will also be helpful here.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r>
              <a:rPr lang="en-US" b="0" i="1" dirty="0">
                <a:latin typeface="Segoe UI" panose="020B0502040204020203" pitchFamily="34" charset="0"/>
                <a:cs typeface="Segoe UI" panose="020B0502040204020203" pitchFamily="34" charset="0"/>
              </a:rPr>
              <a:t>On the other side, you can add a graphic that provides evidence of what you learned.</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3</a:t>
            </a:fld>
            <a:endParaRPr lang="en-US" dirty="0"/>
          </a:p>
        </p:txBody>
      </p:sp>
    </p:spTree>
    <p:extLst>
      <p:ext uri="{BB962C8B-B14F-4D97-AF65-F5344CB8AC3E}">
        <p14:creationId xmlns:p14="http://schemas.microsoft.com/office/powerpoint/2010/main" val="35259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did you think at first?</a:t>
            </a:r>
          </a:p>
          <a:p>
            <a:r>
              <a:rPr lang="en-US" b="0" i="1" dirty="0">
                <a:latin typeface="Segoe UI" panose="020B0502040204020203" pitchFamily="34" charset="0"/>
                <a:cs typeface="Segoe UI" panose="020B0502040204020203" pitchFamily="34" charset="0"/>
              </a:rPr>
              <a:t>What obstacles did you encounter along the way?</a:t>
            </a:r>
          </a:p>
          <a:p>
            <a:r>
              <a:rPr lang="en-US" b="0" i="1" dirty="0">
                <a:latin typeface="Segoe UI" panose="020B0502040204020203" pitchFamily="34" charset="0"/>
                <a:cs typeface="Segoe UI" panose="020B0502040204020203" pitchFamily="34" charset="0"/>
              </a:rPr>
              <a:t>How did you overcome those obstacles?</a:t>
            </a:r>
          </a:p>
          <a:p>
            <a:r>
              <a:rPr lang="en-US" b="0" i="1" dirty="0">
                <a:latin typeface="Segoe UI" panose="020B0502040204020203" pitchFamily="34" charset="0"/>
                <a:cs typeface="Segoe UI" panose="020B0502040204020203" pitchFamily="34" charset="0"/>
              </a:rPr>
              <a:t>What images can you add to support your process?</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4</a:t>
            </a:fld>
            <a:endParaRPr lang="en-US" dirty="0"/>
          </a:p>
        </p:txBody>
      </p:sp>
    </p:spTree>
    <p:extLst>
      <p:ext uri="{BB962C8B-B14F-4D97-AF65-F5344CB8AC3E}">
        <p14:creationId xmlns:p14="http://schemas.microsoft.com/office/powerpoint/2010/main" val="1219416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was important about this learning experience?</a:t>
            </a:r>
          </a:p>
          <a:p>
            <a:r>
              <a:rPr lang="en-US" b="0" i="1" dirty="0">
                <a:latin typeface="Segoe UI" panose="020B0502040204020203" pitchFamily="34" charset="0"/>
                <a:cs typeface="Segoe UI" panose="020B0502040204020203" pitchFamily="34" charset="0"/>
              </a:rPr>
              <a:t>How is it relevant to your course, yourself, or your society or community?</a:t>
            </a:r>
          </a:p>
          <a:p>
            <a:r>
              <a:rPr lang="en-US" b="0" i="1" dirty="0">
                <a:latin typeface="Segoe UI" panose="020B0502040204020203" pitchFamily="34" charset="0"/>
                <a:cs typeface="Segoe UI" panose="020B0502040204020203" pitchFamily="34" charset="0"/>
              </a:rPr>
              <a:t>Why is this significant?</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5</a:t>
            </a:fld>
            <a:endParaRPr lang="en-US" dirty="0"/>
          </a:p>
        </p:txBody>
      </p:sp>
    </p:spTree>
    <p:extLst>
      <p:ext uri="{BB962C8B-B14F-4D97-AF65-F5344CB8AC3E}">
        <p14:creationId xmlns:p14="http://schemas.microsoft.com/office/powerpoint/2010/main" val="1528170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steps will you be taking as a result of this learning experience?</a:t>
            </a:r>
          </a:p>
          <a:p>
            <a:r>
              <a:rPr lang="en-US" b="0" i="1" dirty="0">
                <a:latin typeface="Segoe UI" panose="020B0502040204020203" pitchFamily="34" charset="0"/>
                <a:cs typeface="Segoe UI" panose="020B0502040204020203" pitchFamily="34" charset="0"/>
              </a:rPr>
              <a:t>Did you learn from any failed experiences?  How will you do things differently?</a:t>
            </a:r>
          </a:p>
          <a:p>
            <a:r>
              <a:rPr lang="en-US" b="0" i="1" dirty="0">
                <a:latin typeface="Segoe UI" panose="020B0502040204020203" pitchFamily="34" charset="0"/>
                <a:cs typeface="Segoe UI" panose="020B0502040204020203" pitchFamily="34" charset="0"/>
              </a:rPr>
              <a:t>What advice will you give to others so they can learn from your experiences?</a:t>
            </a:r>
          </a:p>
          <a:p>
            <a:r>
              <a:rPr lang="en-US" b="0" i="1" dirty="0">
                <a:latin typeface="Segoe UI" panose="020B0502040204020203" pitchFamily="34" charset="0"/>
                <a:cs typeface="Segoe UI" panose="020B0502040204020203" pitchFamily="34" charset="0"/>
              </a:rPr>
              <a:t>How can you share what you learned with a real-world audience?  </a:t>
            </a:r>
          </a:p>
          <a:p>
            <a:endParaRPr lang="en-US" dirty="0"/>
          </a:p>
          <a:p>
            <a:r>
              <a:rPr lang="en-US" b="1" dirty="0"/>
              <a:t>Some examples of next steps might be: </a:t>
            </a:r>
          </a:p>
          <a:p>
            <a:pPr marL="228600" indent="-228600">
              <a:buAutoNum type="arabicPeriod"/>
            </a:pPr>
            <a:r>
              <a:rPr lang="en-US" dirty="0"/>
              <a:t>After</a:t>
            </a:r>
            <a:r>
              <a:rPr lang="en-US" baseline="0" dirty="0"/>
              <a:t> delivering my first persuasive presentation, I am thinking about joining the debate team.</a:t>
            </a:r>
          </a:p>
          <a:p>
            <a:pPr marL="228600" indent="-228600">
              <a:buAutoNum type="arabicPeriod"/>
            </a:pPr>
            <a:r>
              <a:rPr lang="en-US" baseline="0" dirty="0"/>
              <a:t>After making my first film, I’m considering entering it in our school film festival or local film festival.</a:t>
            </a:r>
          </a:p>
          <a:p>
            <a:pPr marL="228600" indent="-228600">
              <a:buAutoNum type="arabicPeriod"/>
            </a:pPr>
            <a:r>
              <a:rPr lang="en-US" baseline="0" dirty="0"/>
              <a:t>After connecting with this career expert, I’d like to do some research on that career field because it sounds interesting to me.</a:t>
            </a:r>
          </a:p>
          <a:p>
            <a:pPr marL="0" indent="0">
              <a:buNone/>
            </a:pPr>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share your next steps.  It also helps to add some video content to explain your message.</a:t>
            </a:r>
          </a:p>
        </p:txBody>
      </p:sp>
      <p:sp>
        <p:nvSpPr>
          <p:cNvPr id="4" name="Slide Number Placeholder 3"/>
          <p:cNvSpPr>
            <a:spLocks noGrp="1"/>
          </p:cNvSpPr>
          <p:nvPr>
            <p:ph type="sldNum" sz="quarter" idx="10"/>
          </p:nvPr>
        </p:nvSpPr>
        <p:spPr/>
        <p:txBody>
          <a:bodyPr/>
          <a:lstStyle/>
          <a:p>
            <a:fld id="{D5D79418-37EB-4378-AD22-89DBB000B0DA}" type="slidenum">
              <a:rPr lang="en-US" smtClean="0"/>
              <a:t>6</a:t>
            </a:fld>
            <a:endParaRPr lang="en-US" dirty="0"/>
          </a:p>
        </p:txBody>
      </p:sp>
    </p:spTree>
    <p:extLst>
      <p:ext uri="{BB962C8B-B14F-4D97-AF65-F5344CB8AC3E}">
        <p14:creationId xmlns:p14="http://schemas.microsoft.com/office/powerpoint/2010/main" val="629571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3001213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3403602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452704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350166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C90CD1-78C4-4F02-91FD-9250DB0EDB81}" type="datetimeFigureOut">
              <a:rPr lang="en-IN" smtClean="0"/>
              <a:t>26-02-26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537934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C90CD1-78C4-4F02-91FD-9250DB0EDB81}" type="datetimeFigureOut">
              <a:rPr lang="en-IN" smtClean="0"/>
              <a:t>26-02-26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534700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90CD1-78C4-4F02-91FD-9250DB0EDB81}" type="datetimeFigureOut">
              <a:rPr lang="en-IN" smtClean="0"/>
              <a:t>26-02-26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754632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28510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65447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931308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FA856E-461B-421C-A13A-0100F26D62F1}"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47706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411402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FA856E-461B-421C-A13A-0100F26D62F1}"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43690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9C90CD1-78C4-4F02-91FD-9250DB0EDB81}" type="datetimeFigureOut">
              <a:rPr lang="en-IN" smtClean="0"/>
              <a:t>26-02-26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3453090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1377026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90CD1-78C4-4F02-91FD-9250DB0EDB81}" type="datetimeFigureOut">
              <a:rPr lang="en-IN" smtClean="0"/>
              <a:t>26-02-26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FA856E-461B-421C-A13A-0100F26D62F1}" type="slidenum">
              <a:rPr lang="en-IN" smtClean="0"/>
              <a:t>‹#›</a:t>
            </a:fld>
            <a:endParaRPr lang="en-IN"/>
          </a:p>
        </p:txBody>
      </p:sp>
    </p:spTree>
    <p:extLst>
      <p:ext uri="{BB962C8B-B14F-4D97-AF65-F5344CB8AC3E}">
        <p14:creationId xmlns:p14="http://schemas.microsoft.com/office/powerpoint/2010/main" val="611916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9C90CD1-78C4-4F02-91FD-9250DB0EDB81}" type="datetimeFigureOut">
              <a:rPr lang="en-IN" smtClean="0"/>
              <a:t>26-02-26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DFA856E-461B-421C-A13A-0100F26D62F1}" type="slidenum">
              <a:rPr lang="en-IN" smtClean="0"/>
              <a:t>‹#›</a:t>
            </a:fld>
            <a:endParaRPr lang="en-IN"/>
          </a:p>
        </p:txBody>
      </p:sp>
    </p:spTree>
    <p:extLst>
      <p:ext uri="{BB962C8B-B14F-4D97-AF65-F5344CB8AC3E}">
        <p14:creationId xmlns:p14="http://schemas.microsoft.com/office/powerpoint/2010/main" val="94115207"/>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BBFB-4314-436C-A688-96F483D693AB}"/>
              </a:ext>
            </a:extLst>
          </p:cNvPr>
          <p:cNvSpPr>
            <a:spLocks noGrp="1"/>
          </p:cNvSpPr>
          <p:nvPr>
            <p:ph type="ctrTitle"/>
          </p:nvPr>
        </p:nvSpPr>
        <p:spPr>
          <a:xfrm>
            <a:off x="2101009" y="3210465"/>
            <a:ext cx="8494463" cy="1373070"/>
          </a:xfrm>
        </p:spPr>
        <p:txBody>
          <a:bodyPr anchor="ctr" anchorCtr="0">
            <a:normAutofit fontScale="90000"/>
          </a:bodyPr>
          <a:lstStyle/>
          <a:p>
            <a:r>
              <a:rPr lang="en-US" sz="4400" b="1" dirty="0">
                <a:solidFill>
                  <a:srgbClr val="000000"/>
                </a:solidFill>
                <a:latin typeface="DM Sans Bold"/>
                <a:ea typeface="DM Sans Bold"/>
                <a:cs typeface="DM Sans Bold"/>
                <a:sym typeface="DM Sans Bold"/>
              </a:rPr>
              <a:t>End-to-End E-Commerce </a:t>
            </a:r>
            <a:br>
              <a:rPr lang="en-US" sz="4400" b="1" dirty="0">
                <a:solidFill>
                  <a:srgbClr val="000000"/>
                </a:solidFill>
                <a:latin typeface="DM Sans Bold"/>
                <a:ea typeface="DM Sans Bold"/>
                <a:cs typeface="DM Sans Bold"/>
                <a:sym typeface="DM Sans Bold"/>
              </a:rPr>
            </a:br>
            <a:r>
              <a:rPr lang="en-US" sz="1800" b="1" dirty="0">
                <a:solidFill>
                  <a:srgbClr val="000000"/>
                </a:solidFill>
                <a:latin typeface="DM Sans Bold"/>
                <a:ea typeface="DM Sans Bold"/>
                <a:cs typeface="DM Sans Bold"/>
                <a:sym typeface="DM Sans Bold"/>
              </a:rPr>
              <a:t>Data Science Analysis and Machine Learning on Flipkart</a:t>
            </a:r>
            <a:br>
              <a:rPr lang="en-US" sz="1800" b="1" dirty="0">
                <a:solidFill>
                  <a:srgbClr val="000000"/>
                </a:solidFill>
                <a:latin typeface="DM Sans Bold"/>
                <a:ea typeface="DM Sans Bold"/>
                <a:cs typeface="DM Sans Bold"/>
                <a:sym typeface="DM Sans Bold"/>
              </a:rPr>
            </a:br>
            <a:r>
              <a:rPr lang="en-US" sz="1800" b="1" dirty="0">
                <a:solidFill>
                  <a:srgbClr val="000000"/>
                </a:solidFill>
                <a:latin typeface="DM Sans Bold"/>
                <a:ea typeface="DM Sans Bold"/>
                <a:cs typeface="DM Sans Bold"/>
                <a:sym typeface="DM Sans Bold"/>
              </a:rPr>
              <a:t> Product Data</a:t>
            </a:r>
            <a:br>
              <a:rPr lang="en-US" b="1" dirty="0">
                <a:solidFill>
                  <a:srgbClr val="000000"/>
                </a:solidFill>
                <a:latin typeface="DM Sans Bold"/>
                <a:ea typeface="DM Sans Bold"/>
                <a:cs typeface="DM Sans Bold"/>
                <a:sym typeface="DM Sans Bold"/>
              </a:rPr>
            </a:br>
            <a:endParaRPr lang="en-US" b="1" dirty="0">
              <a:solidFill>
                <a:srgbClr val="000000"/>
              </a:solidFill>
            </a:endParaRPr>
          </a:p>
        </p:txBody>
      </p:sp>
      <p:sp>
        <p:nvSpPr>
          <p:cNvPr id="3" name="Subtitle 2">
            <a:extLst>
              <a:ext uri="{FF2B5EF4-FFF2-40B4-BE49-F238E27FC236}">
                <a16:creationId xmlns:a16="http://schemas.microsoft.com/office/drawing/2014/main" id="{6AA173D3-8B7E-4F91-B862-AC30CB0D2705}"/>
              </a:ext>
            </a:extLst>
          </p:cNvPr>
          <p:cNvSpPr>
            <a:spLocks noGrp="1"/>
          </p:cNvSpPr>
          <p:nvPr>
            <p:ph type="subTitle" idx="1"/>
          </p:nvPr>
        </p:nvSpPr>
        <p:spPr>
          <a:xfrm>
            <a:off x="2802195" y="4198374"/>
            <a:ext cx="8494464" cy="2507225"/>
          </a:xfrm>
        </p:spPr>
        <p:txBody>
          <a:bodyPr>
            <a:noAutofit/>
          </a:bodyPr>
          <a:lstStyle/>
          <a:p>
            <a:pPr algn="r">
              <a:lnSpc>
                <a:spcPts val="6443"/>
              </a:lnSpc>
            </a:pPr>
            <a:r>
              <a:rPr lang="en-US" sz="2400" b="1" dirty="0">
                <a:solidFill>
                  <a:srgbClr val="000000"/>
                </a:solidFill>
                <a:latin typeface="DM Sans"/>
                <a:ea typeface="DM Sans"/>
                <a:cs typeface="DM Sans"/>
                <a:sym typeface="DM Sans"/>
              </a:rPr>
              <a:t>GOKUL KARTHIKEYAN R</a:t>
            </a:r>
          </a:p>
          <a:p>
            <a:pPr algn="r">
              <a:lnSpc>
                <a:spcPts val="6443"/>
              </a:lnSpc>
            </a:pPr>
            <a:r>
              <a:rPr lang="en-US" sz="2400" b="1" dirty="0">
                <a:solidFill>
                  <a:srgbClr val="000000"/>
                </a:solidFill>
                <a:latin typeface="DM Sans"/>
                <a:ea typeface="DM Sans"/>
                <a:cs typeface="DM Sans"/>
                <a:sym typeface="DM Sans"/>
              </a:rPr>
              <a:t>AUGUST - 2025</a:t>
            </a:r>
          </a:p>
          <a:p>
            <a:pPr algn="r">
              <a:lnSpc>
                <a:spcPts val="6443"/>
              </a:lnSpc>
            </a:pPr>
            <a:r>
              <a:rPr lang="en-US" sz="2400" b="1" dirty="0">
                <a:solidFill>
                  <a:srgbClr val="000000"/>
                </a:solidFill>
                <a:latin typeface="DM Sans"/>
                <a:ea typeface="DM Sans"/>
                <a:cs typeface="DM Sans"/>
                <a:sym typeface="DM Sans"/>
              </a:rPr>
              <a:t>27-02-2026</a:t>
            </a:r>
          </a:p>
          <a:p>
            <a:endParaRPr lang="en-US" sz="2400" dirty="0"/>
          </a:p>
        </p:txBody>
      </p:sp>
      <p:pic>
        <p:nvPicPr>
          <p:cNvPr id="9" name="Graphic 8" descr="Book icon">
            <a:extLst>
              <a:ext uri="{FF2B5EF4-FFF2-40B4-BE49-F238E27FC236}">
                <a16:creationId xmlns:a16="http://schemas.microsoft.com/office/drawing/2014/main" id="{E26792AF-5D39-4A12-8EDD-CC09A60BD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657" y="2990496"/>
            <a:ext cx="936000" cy="936000"/>
          </a:xfrm>
          <a:prstGeom prst="rect">
            <a:avLst/>
          </a:prstGeom>
        </p:spPr>
      </p:pic>
    </p:spTree>
    <p:extLst>
      <p:ext uri="{BB962C8B-B14F-4D97-AF65-F5344CB8AC3E}">
        <p14:creationId xmlns:p14="http://schemas.microsoft.com/office/powerpoint/2010/main" val="190653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90ED34-CA29-0CFF-9E8F-2982E62DBE8F}"/>
              </a:ext>
            </a:extLst>
          </p:cNvPr>
          <p:cNvSpPr txBox="1"/>
          <p:nvPr/>
        </p:nvSpPr>
        <p:spPr>
          <a:xfrm>
            <a:off x="851613" y="545433"/>
            <a:ext cx="9833810" cy="1162049"/>
          </a:xfrm>
          <a:prstGeom prst="rect">
            <a:avLst/>
          </a:prstGeom>
          <a:noFill/>
        </p:spPr>
        <p:txBody>
          <a:bodyPr wrap="square">
            <a:spAutoFit/>
          </a:bodyPr>
          <a:lstStyle/>
          <a:p>
            <a:pPr algn="just">
              <a:lnSpc>
                <a:spcPts val="9282"/>
              </a:lnSpc>
            </a:pPr>
            <a:r>
              <a:rPr lang="en-US" sz="6000" b="1" dirty="0">
                <a:solidFill>
                  <a:srgbClr val="000000"/>
                </a:solidFill>
                <a:latin typeface="DM Sans Bold"/>
                <a:ea typeface="DM Sans Bold"/>
                <a:cs typeface="DM Sans Bold"/>
                <a:sym typeface="DM Sans Bold"/>
              </a:rPr>
              <a:t>Project Overview</a:t>
            </a:r>
          </a:p>
        </p:txBody>
      </p:sp>
      <p:sp>
        <p:nvSpPr>
          <p:cNvPr id="8" name="TextBox 7">
            <a:extLst>
              <a:ext uri="{FF2B5EF4-FFF2-40B4-BE49-F238E27FC236}">
                <a16:creationId xmlns:a16="http://schemas.microsoft.com/office/drawing/2014/main" id="{7119297C-CFA9-33BA-ECAC-515998AE4484}"/>
              </a:ext>
            </a:extLst>
          </p:cNvPr>
          <p:cNvSpPr txBox="1"/>
          <p:nvPr/>
        </p:nvSpPr>
        <p:spPr>
          <a:xfrm>
            <a:off x="481263" y="2085473"/>
            <a:ext cx="9978190" cy="3887796"/>
          </a:xfrm>
          <a:prstGeom prst="rect">
            <a:avLst/>
          </a:prstGeom>
          <a:noFill/>
        </p:spPr>
        <p:txBody>
          <a:bodyPr wrap="square">
            <a:spAutoFit/>
          </a:bodyPr>
          <a:lstStyle/>
          <a:p>
            <a:pPr algn="just">
              <a:lnSpc>
                <a:spcPts val="4283"/>
              </a:lnSpc>
            </a:pPr>
            <a:r>
              <a:rPr lang="en-US" sz="2000" dirty="0">
                <a:solidFill>
                  <a:srgbClr val="000000"/>
                </a:solidFill>
                <a:latin typeface="DM Sans"/>
                <a:ea typeface="DM Sans"/>
                <a:cs typeface="DM Sans"/>
                <a:sym typeface="DM Sans"/>
              </a:rPr>
              <a:t>This capstone project focuses on analyzing real-world </a:t>
            </a:r>
          </a:p>
          <a:p>
            <a:pPr algn="just">
              <a:lnSpc>
                <a:spcPts val="4283"/>
              </a:lnSpc>
            </a:pPr>
            <a:r>
              <a:rPr lang="en-US" sz="2000" dirty="0">
                <a:solidFill>
                  <a:srgbClr val="000000"/>
                </a:solidFill>
                <a:latin typeface="DM Sans"/>
                <a:ea typeface="DM Sans"/>
                <a:cs typeface="DM Sans"/>
                <a:sym typeface="DM Sans"/>
              </a:rPr>
              <a:t>e-commerce product data scraped from the Flipkart website. The objective is to understand product trends, customer preferences, and performance patterns using data science techniques. The project covers the complete data science lifecycle, including data collection, cleaning, storage, exploratory analysis, unsupervised learning, supervised learning, and hyperparameter tuning to derive actionable business insights.</a:t>
            </a:r>
          </a:p>
        </p:txBody>
      </p:sp>
    </p:spTree>
    <p:extLst>
      <p:ext uri="{BB962C8B-B14F-4D97-AF65-F5344CB8AC3E}">
        <p14:creationId xmlns:p14="http://schemas.microsoft.com/office/powerpoint/2010/main" val="2745843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6FD21B2-C939-CBFE-BE5E-FD7D073FEE6B}"/>
              </a:ext>
            </a:extLst>
          </p:cNvPr>
          <p:cNvSpPr txBox="1"/>
          <p:nvPr/>
        </p:nvSpPr>
        <p:spPr>
          <a:xfrm>
            <a:off x="-176464" y="953398"/>
            <a:ext cx="8165432" cy="1162049"/>
          </a:xfrm>
          <a:prstGeom prst="rect">
            <a:avLst/>
          </a:prstGeom>
          <a:noFill/>
        </p:spPr>
        <p:txBody>
          <a:bodyPr wrap="square">
            <a:spAutoFit/>
          </a:bodyPr>
          <a:lstStyle/>
          <a:p>
            <a:pPr algn="ctr">
              <a:lnSpc>
                <a:spcPts val="9302"/>
              </a:lnSpc>
            </a:pPr>
            <a:r>
              <a:rPr lang="en-US" sz="6000" b="1" dirty="0">
                <a:solidFill>
                  <a:srgbClr val="000000"/>
                </a:solidFill>
                <a:latin typeface="DM Sans Bold"/>
                <a:ea typeface="DM Sans Bold"/>
                <a:cs typeface="DM Sans Bold"/>
                <a:sym typeface="DM Sans Bold"/>
              </a:rPr>
              <a:t>Problem Statement</a:t>
            </a:r>
          </a:p>
        </p:txBody>
      </p:sp>
      <p:sp>
        <p:nvSpPr>
          <p:cNvPr id="13" name="TextBox 12">
            <a:extLst>
              <a:ext uri="{FF2B5EF4-FFF2-40B4-BE49-F238E27FC236}">
                <a16:creationId xmlns:a16="http://schemas.microsoft.com/office/drawing/2014/main" id="{CBBBD8F4-E784-3086-A88E-927F72E876E8}"/>
              </a:ext>
            </a:extLst>
          </p:cNvPr>
          <p:cNvSpPr txBox="1"/>
          <p:nvPr/>
        </p:nvSpPr>
        <p:spPr>
          <a:xfrm>
            <a:off x="705852" y="2657270"/>
            <a:ext cx="9914021" cy="2666307"/>
          </a:xfrm>
          <a:prstGeom prst="rect">
            <a:avLst/>
          </a:prstGeom>
          <a:noFill/>
        </p:spPr>
        <p:txBody>
          <a:bodyPr wrap="square">
            <a:spAutoFit/>
          </a:bodyPr>
          <a:lstStyle/>
          <a:p>
            <a:pPr algn="just">
              <a:lnSpc>
                <a:spcPts val="5249"/>
              </a:lnSpc>
            </a:pPr>
            <a:r>
              <a:rPr lang="en-US" sz="2000" dirty="0">
                <a:solidFill>
                  <a:srgbClr val="000000"/>
                </a:solidFill>
                <a:latin typeface="DM Sans"/>
                <a:ea typeface="DM Sans"/>
                <a:cs typeface="DM Sans"/>
                <a:sym typeface="DM Sans"/>
              </a:rPr>
              <a:t>Flipkart provides extensive product data, but it is available in raw and unstructured form, making analysis challenging. This project scrapes and structures Flipkart product data and applies machine learning to uncover trends, classify products, and support data-driven product and marketing decisions.</a:t>
            </a:r>
          </a:p>
        </p:txBody>
      </p:sp>
    </p:spTree>
    <p:extLst>
      <p:ext uri="{BB962C8B-B14F-4D97-AF65-F5344CB8AC3E}">
        <p14:creationId xmlns:p14="http://schemas.microsoft.com/office/powerpoint/2010/main" val="420520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6BD24EB-8400-66E7-9950-BA8C1DC53696}"/>
              </a:ext>
            </a:extLst>
          </p:cNvPr>
          <p:cNvSpPr txBox="1"/>
          <p:nvPr/>
        </p:nvSpPr>
        <p:spPr>
          <a:xfrm>
            <a:off x="1" y="1"/>
            <a:ext cx="10505440" cy="1342227"/>
          </a:xfrm>
          <a:prstGeom prst="rect">
            <a:avLst/>
          </a:prstGeom>
          <a:noFill/>
        </p:spPr>
        <p:txBody>
          <a:bodyPr wrap="square">
            <a:spAutoFit/>
          </a:bodyPr>
          <a:lstStyle/>
          <a:p>
            <a:pPr algn="ctr">
              <a:lnSpc>
                <a:spcPts val="10898"/>
              </a:lnSpc>
            </a:pPr>
            <a:r>
              <a:rPr lang="en-US" sz="5500" b="1" dirty="0">
                <a:solidFill>
                  <a:srgbClr val="000000"/>
                </a:solidFill>
                <a:latin typeface="DM Sans Bold"/>
                <a:ea typeface="DM Sans Bold"/>
                <a:cs typeface="DM Sans Bold"/>
                <a:sym typeface="DM Sans Bold"/>
              </a:rPr>
              <a:t>Data Collection Web Scraping</a:t>
            </a:r>
          </a:p>
        </p:txBody>
      </p:sp>
      <p:sp>
        <p:nvSpPr>
          <p:cNvPr id="10" name="TextBox 9">
            <a:extLst>
              <a:ext uri="{FF2B5EF4-FFF2-40B4-BE49-F238E27FC236}">
                <a16:creationId xmlns:a16="http://schemas.microsoft.com/office/drawing/2014/main" id="{E12F5579-7BC3-B3E6-69D6-9602D0923C03}"/>
              </a:ext>
            </a:extLst>
          </p:cNvPr>
          <p:cNvSpPr txBox="1"/>
          <p:nvPr/>
        </p:nvSpPr>
        <p:spPr>
          <a:xfrm>
            <a:off x="5614737" y="1485215"/>
            <a:ext cx="6128084" cy="5667129"/>
          </a:xfrm>
          <a:prstGeom prst="rect">
            <a:avLst/>
          </a:prstGeom>
          <a:noFill/>
        </p:spPr>
        <p:txBody>
          <a:bodyPr wrap="square">
            <a:spAutoFit/>
          </a:bodyPr>
          <a:lstStyle/>
          <a:p>
            <a:pPr algn="just">
              <a:lnSpc>
                <a:spcPts val="4391"/>
              </a:lnSpc>
            </a:pPr>
            <a:r>
              <a:rPr lang="en-US" sz="2000" b="1" dirty="0">
                <a:solidFill>
                  <a:srgbClr val="000000"/>
                </a:solidFill>
                <a:latin typeface="DM Sans Bold"/>
                <a:ea typeface="DM Sans Bold"/>
                <a:cs typeface="DM Sans Bold"/>
                <a:sym typeface="DM Sans Bold"/>
              </a:rPr>
              <a:t>Data Scraped</a:t>
            </a:r>
          </a:p>
          <a:p>
            <a:pPr marL="877918" lvl="1" indent="-438959" algn="just">
              <a:lnSpc>
                <a:spcPts val="4391"/>
              </a:lnSpc>
              <a:buFont typeface="Arial"/>
              <a:buChar char="•"/>
            </a:pPr>
            <a:r>
              <a:rPr lang="en-US" sz="2000" dirty="0">
                <a:solidFill>
                  <a:srgbClr val="000000"/>
                </a:solidFill>
                <a:latin typeface="DM Sans"/>
                <a:ea typeface="DM Sans"/>
                <a:cs typeface="DM Sans"/>
                <a:sym typeface="DM Sans"/>
              </a:rPr>
              <a:t>Product Name</a:t>
            </a:r>
          </a:p>
          <a:p>
            <a:pPr marL="877918" lvl="1" indent="-438959" algn="just">
              <a:lnSpc>
                <a:spcPts val="4391"/>
              </a:lnSpc>
              <a:buFont typeface="Arial"/>
              <a:buChar char="•"/>
            </a:pPr>
            <a:r>
              <a:rPr lang="en-US" sz="2000" dirty="0">
                <a:solidFill>
                  <a:srgbClr val="000000"/>
                </a:solidFill>
                <a:latin typeface="DM Sans"/>
                <a:ea typeface="DM Sans"/>
                <a:cs typeface="DM Sans"/>
                <a:sym typeface="DM Sans"/>
              </a:rPr>
              <a:t>Price</a:t>
            </a:r>
          </a:p>
          <a:p>
            <a:pPr marL="877918" lvl="1" indent="-438959" algn="just">
              <a:lnSpc>
                <a:spcPts val="4391"/>
              </a:lnSpc>
              <a:buFont typeface="Arial"/>
              <a:buChar char="•"/>
            </a:pPr>
            <a:r>
              <a:rPr lang="en-US" sz="2000" dirty="0">
                <a:solidFill>
                  <a:srgbClr val="000000"/>
                </a:solidFill>
                <a:latin typeface="DM Sans"/>
                <a:ea typeface="DM Sans"/>
                <a:cs typeface="DM Sans"/>
                <a:sym typeface="DM Sans"/>
              </a:rPr>
              <a:t>Category</a:t>
            </a:r>
          </a:p>
          <a:p>
            <a:pPr marL="877918" lvl="1" indent="-438959" algn="just">
              <a:lnSpc>
                <a:spcPts val="4391"/>
              </a:lnSpc>
              <a:buFont typeface="Arial"/>
              <a:buChar char="•"/>
            </a:pPr>
            <a:r>
              <a:rPr lang="en-US" sz="2000" dirty="0">
                <a:solidFill>
                  <a:srgbClr val="000000"/>
                </a:solidFill>
                <a:latin typeface="DM Sans"/>
                <a:ea typeface="DM Sans"/>
                <a:cs typeface="DM Sans"/>
                <a:sym typeface="DM Sans"/>
              </a:rPr>
              <a:t>Ratings</a:t>
            </a:r>
          </a:p>
          <a:p>
            <a:pPr marL="877918" lvl="1" indent="-438959" algn="just">
              <a:lnSpc>
                <a:spcPts val="4391"/>
              </a:lnSpc>
              <a:buFont typeface="Arial"/>
              <a:buChar char="•"/>
            </a:pPr>
            <a:r>
              <a:rPr lang="en-US" sz="2000" dirty="0">
                <a:solidFill>
                  <a:srgbClr val="000000"/>
                </a:solidFill>
                <a:latin typeface="DM Sans"/>
                <a:ea typeface="DM Sans"/>
                <a:cs typeface="DM Sans"/>
                <a:sym typeface="DM Sans"/>
              </a:rPr>
              <a:t>Number of Reviews</a:t>
            </a:r>
          </a:p>
          <a:p>
            <a:pPr algn="just">
              <a:lnSpc>
                <a:spcPts val="4391"/>
              </a:lnSpc>
            </a:pPr>
            <a:r>
              <a:rPr lang="en-US" sz="2000" dirty="0">
                <a:solidFill>
                  <a:srgbClr val="000000"/>
                </a:solidFill>
                <a:latin typeface="DM Sans"/>
                <a:ea typeface="DM Sans"/>
                <a:cs typeface="DM Sans"/>
                <a:sym typeface="DM Sans"/>
              </a:rPr>
              <a:t>The data was scraped ethically while respecting website structure and usage policies, and stored in CSV format for further processing.</a:t>
            </a:r>
          </a:p>
          <a:p>
            <a:pPr algn="just">
              <a:lnSpc>
                <a:spcPts val="4391"/>
              </a:lnSpc>
            </a:pPr>
            <a:endParaRPr lang="en-US" sz="2000" dirty="0">
              <a:solidFill>
                <a:srgbClr val="FFFFFF"/>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D6222230-0C76-385D-53B7-36F55252E971}"/>
              </a:ext>
            </a:extLst>
          </p:cNvPr>
          <p:cNvSpPr txBox="1"/>
          <p:nvPr/>
        </p:nvSpPr>
        <p:spPr>
          <a:xfrm>
            <a:off x="332873" y="1485215"/>
            <a:ext cx="6565231" cy="4698915"/>
          </a:xfrm>
          <a:prstGeom prst="rect">
            <a:avLst/>
          </a:prstGeom>
          <a:noFill/>
        </p:spPr>
        <p:txBody>
          <a:bodyPr wrap="square">
            <a:spAutoFit/>
          </a:bodyPr>
          <a:lstStyle/>
          <a:p>
            <a:pPr algn="l">
              <a:lnSpc>
                <a:spcPts val="4283"/>
              </a:lnSpc>
            </a:pPr>
            <a:r>
              <a:rPr lang="en-US" sz="2000" b="1" dirty="0">
                <a:solidFill>
                  <a:srgbClr val="000000"/>
                </a:solidFill>
                <a:latin typeface="DM Sans Bold"/>
                <a:ea typeface="DM Sans Bold"/>
                <a:cs typeface="DM Sans Bold"/>
                <a:sym typeface="DM Sans Bold"/>
              </a:rPr>
              <a:t>Source: </a:t>
            </a:r>
          </a:p>
          <a:p>
            <a:pPr algn="l">
              <a:lnSpc>
                <a:spcPts val="4283"/>
              </a:lnSpc>
            </a:pPr>
            <a:r>
              <a:rPr lang="en-US" sz="2000" dirty="0">
                <a:solidFill>
                  <a:srgbClr val="000000"/>
                </a:solidFill>
                <a:latin typeface="DM Sans"/>
                <a:ea typeface="DM Sans"/>
                <a:cs typeface="DM Sans"/>
                <a:sym typeface="DM Sans"/>
              </a:rPr>
              <a:t>Flipkart E-Commerce Website</a:t>
            </a:r>
          </a:p>
          <a:p>
            <a:pPr algn="just">
              <a:lnSpc>
                <a:spcPts val="4283"/>
              </a:lnSpc>
            </a:pPr>
            <a:endParaRPr lang="en-US" sz="2000" dirty="0">
              <a:solidFill>
                <a:srgbClr val="000000"/>
              </a:solidFill>
              <a:latin typeface="DM Sans"/>
              <a:ea typeface="DM Sans"/>
              <a:cs typeface="DM Sans"/>
              <a:sym typeface="DM Sans"/>
            </a:endParaRPr>
          </a:p>
          <a:p>
            <a:pPr algn="just">
              <a:lnSpc>
                <a:spcPts val="4283"/>
              </a:lnSpc>
            </a:pPr>
            <a:r>
              <a:rPr lang="en-US" sz="2000" dirty="0">
                <a:solidFill>
                  <a:srgbClr val="000000"/>
                </a:solidFill>
                <a:latin typeface="DM Sans"/>
                <a:ea typeface="DM Sans"/>
                <a:cs typeface="DM Sans"/>
                <a:sym typeface="DM Sans"/>
              </a:rPr>
              <a:t>T</a:t>
            </a:r>
            <a:r>
              <a:rPr lang="en-US" sz="2000" b="1" dirty="0">
                <a:solidFill>
                  <a:srgbClr val="000000"/>
                </a:solidFill>
                <a:latin typeface="DM Sans Bold"/>
                <a:ea typeface="DM Sans Bold"/>
                <a:cs typeface="DM Sans Bold"/>
                <a:sym typeface="DM Sans Bold"/>
              </a:rPr>
              <a:t>ools &amp; Technologies</a:t>
            </a:r>
          </a:p>
          <a:p>
            <a:pPr marL="856329" lvl="1" indent="-428165" algn="just">
              <a:lnSpc>
                <a:spcPts val="4283"/>
              </a:lnSpc>
              <a:buFont typeface="Arial"/>
              <a:buChar char="•"/>
            </a:pPr>
            <a:r>
              <a:rPr lang="en-US" sz="2000" dirty="0">
                <a:solidFill>
                  <a:srgbClr val="000000"/>
                </a:solidFill>
                <a:latin typeface="DM Sans"/>
                <a:ea typeface="DM Sans"/>
                <a:cs typeface="DM Sans"/>
                <a:sym typeface="DM Sans"/>
              </a:rPr>
              <a:t>Python</a:t>
            </a:r>
          </a:p>
          <a:p>
            <a:pPr marL="856329" lvl="1" indent="-428165" algn="just">
              <a:lnSpc>
                <a:spcPts val="4283"/>
              </a:lnSpc>
              <a:buFont typeface="Arial"/>
              <a:buChar char="•"/>
            </a:pPr>
            <a:r>
              <a:rPr lang="en-US" sz="2000" dirty="0" err="1">
                <a:solidFill>
                  <a:srgbClr val="000000"/>
                </a:solidFill>
                <a:latin typeface="DM Sans"/>
                <a:ea typeface="DM Sans"/>
                <a:cs typeface="DM Sans"/>
                <a:sym typeface="DM Sans"/>
              </a:rPr>
              <a:t>BeautifulSoup</a:t>
            </a:r>
            <a:r>
              <a:rPr lang="en-US" sz="2000" dirty="0">
                <a:solidFill>
                  <a:srgbClr val="000000"/>
                </a:solidFill>
                <a:latin typeface="DM Sans"/>
                <a:ea typeface="DM Sans"/>
                <a:cs typeface="DM Sans"/>
                <a:sym typeface="DM Sans"/>
              </a:rPr>
              <a:t> / Requests</a:t>
            </a:r>
          </a:p>
          <a:p>
            <a:pPr marL="856329" lvl="1" indent="-428165" algn="just">
              <a:lnSpc>
                <a:spcPts val="4283"/>
              </a:lnSpc>
              <a:buFont typeface="Arial"/>
              <a:buChar char="•"/>
            </a:pPr>
            <a:r>
              <a:rPr lang="en-US" sz="2000" dirty="0">
                <a:solidFill>
                  <a:srgbClr val="000000"/>
                </a:solidFill>
                <a:latin typeface="DM Sans"/>
                <a:ea typeface="DM Sans"/>
                <a:cs typeface="DM Sans"/>
                <a:sym typeface="DM Sans"/>
              </a:rPr>
              <a:t>Pandas</a:t>
            </a:r>
          </a:p>
          <a:p>
            <a:pPr algn="just">
              <a:lnSpc>
                <a:spcPts val="2987"/>
              </a:lnSpc>
            </a:pPr>
            <a:endParaRPr lang="en-US" sz="2000" dirty="0">
              <a:solidFill>
                <a:srgbClr val="FFFFFF"/>
              </a:solidFill>
              <a:latin typeface="DM Sans"/>
              <a:ea typeface="DM Sans"/>
              <a:cs typeface="DM Sans"/>
              <a:sym typeface="DM Sans"/>
            </a:endParaRPr>
          </a:p>
          <a:p>
            <a:pPr algn="just">
              <a:lnSpc>
                <a:spcPts val="298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75457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778DF31-4364-128F-ABA2-6454A5C65281}"/>
              </a:ext>
            </a:extLst>
          </p:cNvPr>
          <p:cNvSpPr txBox="1"/>
          <p:nvPr/>
        </p:nvSpPr>
        <p:spPr>
          <a:xfrm>
            <a:off x="192505" y="-240631"/>
            <a:ext cx="11379735" cy="2556405"/>
          </a:xfrm>
          <a:prstGeom prst="rect">
            <a:avLst/>
          </a:prstGeom>
          <a:noFill/>
        </p:spPr>
        <p:txBody>
          <a:bodyPr wrap="square">
            <a:spAutoFit/>
          </a:bodyPr>
          <a:lstStyle/>
          <a:p>
            <a:pPr algn="l">
              <a:lnSpc>
                <a:spcPts val="10034"/>
              </a:lnSpc>
            </a:pPr>
            <a:r>
              <a:rPr lang="en-US" sz="6000" b="1" dirty="0">
                <a:solidFill>
                  <a:srgbClr val="000000"/>
                </a:solidFill>
                <a:latin typeface="DM Sans Bold"/>
                <a:ea typeface="DM Sans Bold"/>
                <a:cs typeface="DM Sans Bold"/>
                <a:sym typeface="DM Sans Bold"/>
              </a:rPr>
              <a:t>Data Cleaning &amp; Preprocessing</a:t>
            </a:r>
          </a:p>
        </p:txBody>
      </p:sp>
      <p:sp>
        <p:nvSpPr>
          <p:cNvPr id="12" name="TextBox 11">
            <a:extLst>
              <a:ext uri="{FF2B5EF4-FFF2-40B4-BE49-F238E27FC236}">
                <a16:creationId xmlns:a16="http://schemas.microsoft.com/office/drawing/2014/main" id="{842D275A-8BFD-9367-F2F4-1EFDB9937325}"/>
              </a:ext>
            </a:extLst>
          </p:cNvPr>
          <p:cNvSpPr txBox="1"/>
          <p:nvPr/>
        </p:nvSpPr>
        <p:spPr>
          <a:xfrm>
            <a:off x="0" y="2364269"/>
            <a:ext cx="10559714" cy="4493731"/>
          </a:xfrm>
          <a:prstGeom prst="rect">
            <a:avLst/>
          </a:prstGeom>
          <a:noFill/>
        </p:spPr>
        <p:txBody>
          <a:bodyPr wrap="square">
            <a:spAutoFit/>
          </a:bodyPr>
          <a:lstStyle/>
          <a:p>
            <a:pPr algn="just">
              <a:lnSpc>
                <a:spcPts val="4967"/>
              </a:lnSpc>
            </a:pPr>
            <a:r>
              <a:rPr lang="en-US" sz="2000" dirty="0">
                <a:solidFill>
                  <a:srgbClr val="000000"/>
                </a:solidFill>
                <a:latin typeface="DM Sans"/>
                <a:ea typeface="DM Sans"/>
                <a:cs typeface="DM Sans"/>
                <a:sym typeface="DM Sans"/>
              </a:rPr>
              <a:t>After loading the scraped data into a Pandas </a:t>
            </a:r>
            <a:r>
              <a:rPr lang="en-US" sz="2000" dirty="0" err="1">
                <a:solidFill>
                  <a:srgbClr val="000000"/>
                </a:solidFill>
                <a:latin typeface="DM Sans"/>
                <a:ea typeface="DM Sans"/>
                <a:cs typeface="DM Sans"/>
                <a:sym typeface="DM Sans"/>
              </a:rPr>
              <a:t>DataFrame</a:t>
            </a:r>
            <a:r>
              <a:rPr lang="en-US" sz="2000" dirty="0">
                <a:solidFill>
                  <a:srgbClr val="000000"/>
                </a:solidFill>
                <a:latin typeface="DM Sans"/>
                <a:ea typeface="DM Sans"/>
                <a:cs typeface="DM Sans"/>
                <a:sym typeface="DM Sans"/>
              </a:rPr>
              <a:t>, the following steps were performed:</a:t>
            </a:r>
          </a:p>
          <a:p>
            <a:pPr marL="993136" lvl="1" indent="-496568" algn="just">
              <a:lnSpc>
                <a:spcPts val="4967"/>
              </a:lnSpc>
              <a:buFont typeface="Arial"/>
              <a:buChar char="•"/>
            </a:pPr>
            <a:r>
              <a:rPr lang="en-US" sz="2000" dirty="0">
                <a:solidFill>
                  <a:srgbClr val="000000"/>
                </a:solidFill>
                <a:latin typeface="DM Sans"/>
                <a:ea typeface="DM Sans"/>
                <a:cs typeface="DM Sans"/>
                <a:sym typeface="DM Sans"/>
              </a:rPr>
              <a:t>Handled missing values and inconsistent records</a:t>
            </a:r>
          </a:p>
          <a:p>
            <a:pPr marL="993136" lvl="1" indent="-496568" algn="just">
              <a:lnSpc>
                <a:spcPts val="4967"/>
              </a:lnSpc>
              <a:buFont typeface="Arial"/>
              <a:buChar char="•"/>
            </a:pPr>
            <a:r>
              <a:rPr lang="en-US" sz="2000" dirty="0">
                <a:solidFill>
                  <a:srgbClr val="000000"/>
                </a:solidFill>
                <a:latin typeface="DM Sans"/>
                <a:ea typeface="DM Sans"/>
                <a:cs typeface="DM Sans"/>
                <a:sym typeface="DM Sans"/>
              </a:rPr>
              <a:t>Removed duplicate and irrelevant entries</a:t>
            </a:r>
          </a:p>
          <a:p>
            <a:pPr marL="993136" lvl="1" indent="-496568" algn="just">
              <a:lnSpc>
                <a:spcPts val="4967"/>
              </a:lnSpc>
              <a:buFont typeface="Arial"/>
              <a:buChar char="•"/>
            </a:pPr>
            <a:r>
              <a:rPr lang="en-US" sz="2000" dirty="0">
                <a:solidFill>
                  <a:srgbClr val="000000"/>
                </a:solidFill>
                <a:latin typeface="DM Sans"/>
                <a:ea typeface="DM Sans"/>
                <a:cs typeface="DM Sans"/>
                <a:sym typeface="DM Sans"/>
              </a:rPr>
              <a:t>Standardized currency symbols and numerical formats</a:t>
            </a:r>
          </a:p>
          <a:p>
            <a:pPr marL="993136" lvl="1" indent="-496568" algn="just">
              <a:lnSpc>
                <a:spcPts val="4967"/>
              </a:lnSpc>
              <a:buFont typeface="Arial"/>
              <a:buChar char="•"/>
            </a:pPr>
            <a:r>
              <a:rPr lang="en-US" sz="2000" dirty="0">
                <a:solidFill>
                  <a:srgbClr val="000000"/>
                </a:solidFill>
                <a:latin typeface="DM Sans"/>
                <a:ea typeface="DM Sans"/>
                <a:cs typeface="DM Sans"/>
                <a:sym typeface="DM Sans"/>
              </a:rPr>
              <a:t>Converted text data to consistent casing</a:t>
            </a:r>
          </a:p>
          <a:p>
            <a:pPr algn="just">
              <a:lnSpc>
                <a:spcPts val="49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224134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995FCC07-B941-4BCF-37DF-6D035B834665}"/>
              </a:ext>
            </a:extLst>
          </p:cNvPr>
          <p:cNvSpPr txBox="1"/>
          <p:nvPr/>
        </p:nvSpPr>
        <p:spPr>
          <a:xfrm>
            <a:off x="208548" y="0"/>
            <a:ext cx="6096000" cy="1250599"/>
          </a:xfrm>
          <a:prstGeom prst="rect">
            <a:avLst/>
          </a:prstGeom>
          <a:noFill/>
        </p:spPr>
        <p:txBody>
          <a:bodyPr wrap="square">
            <a:spAutoFit/>
          </a:bodyPr>
          <a:lstStyle/>
          <a:p>
            <a:pPr algn="just">
              <a:lnSpc>
                <a:spcPts val="9318"/>
              </a:lnSpc>
            </a:pPr>
            <a:r>
              <a:rPr lang="en-US" sz="6000" dirty="0">
                <a:solidFill>
                  <a:srgbClr val="000000"/>
                </a:solidFill>
                <a:latin typeface="DM Sans"/>
                <a:ea typeface="DM Sans"/>
                <a:cs typeface="DM Sans"/>
                <a:sym typeface="DM Sans"/>
              </a:rPr>
              <a:t>Data Cleaning</a:t>
            </a:r>
          </a:p>
        </p:txBody>
      </p:sp>
      <p:pic>
        <p:nvPicPr>
          <p:cNvPr id="36" name="Picture 35">
            <a:extLst>
              <a:ext uri="{FF2B5EF4-FFF2-40B4-BE49-F238E27FC236}">
                <a16:creationId xmlns:a16="http://schemas.microsoft.com/office/drawing/2014/main" id="{5474CC2D-D444-7374-843F-CD1BB0D95C9A}"/>
              </a:ext>
            </a:extLst>
          </p:cNvPr>
          <p:cNvPicPr>
            <a:picLocks noChangeAspect="1"/>
          </p:cNvPicPr>
          <p:nvPr/>
        </p:nvPicPr>
        <p:blipFill>
          <a:blip r:embed="rId3"/>
          <a:stretch>
            <a:fillRect/>
          </a:stretch>
        </p:blipFill>
        <p:spPr>
          <a:xfrm>
            <a:off x="208548" y="1645102"/>
            <a:ext cx="10930788" cy="4723613"/>
          </a:xfrm>
          <a:prstGeom prst="rect">
            <a:avLst/>
          </a:prstGeom>
        </p:spPr>
      </p:pic>
    </p:spTree>
    <p:extLst>
      <p:ext uri="{BB962C8B-B14F-4D97-AF65-F5344CB8AC3E}">
        <p14:creationId xmlns:p14="http://schemas.microsoft.com/office/powerpoint/2010/main" val="408945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41E143-4828-F683-A643-B0F3DE61BAF0}"/>
              </a:ext>
            </a:extLst>
          </p:cNvPr>
          <p:cNvSpPr txBox="1"/>
          <p:nvPr/>
        </p:nvSpPr>
        <p:spPr>
          <a:xfrm>
            <a:off x="1307431" y="0"/>
            <a:ext cx="8357937" cy="1215333"/>
          </a:xfrm>
          <a:prstGeom prst="rect">
            <a:avLst/>
          </a:prstGeom>
          <a:noFill/>
        </p:spPr>
        <p:txBody>
          <a:bodyPr wrap="square">
            <a:spAutoFit/>
          </a:bodyPr>
          <a:lstStyle/>
          <a:p>
            <a:pPr algn="l">
              <a:lnSpc>
                <a:spcPts val="9989"/>
              </a:lnSpc>
            </a:pPr>
            <a:r>
              <a:rPr lang="en-US" sz="4400" dirty="0" err="1">
                <a:solidFill>
                  <a:srgbClr val="000000"/>
                </a:solidFill>
                <a:latin typeface="DM Sans Bold"/>
                <a:ea typeface="DM Sans Bold"/>
                <a:cs typeface="DM Sans Bold"/>
                <a:sym typeface="DM Sans Bold"/>
              </a:rPr>
              <a:t>Exloratory</a:t>
            </a:r>
            <a:r>
              <a:rPr lang="en-US" sz="4400" dirty="0">
                <a:solidFill>
                  <a:schemeClr val="bg1"/>
                </a:solidFill>
                <a:latin typeface="DM Sans Bold"/>
                <a:ea typeface="DM Sans Bold"/>
                <a:cs typeface="DM Sans Bold"/>
                <a:sym typeface="DM Sans Bold"/>
              </a:rPr>
              <a:t> </a:t>
            </a:r>
            <a:r>
              <a:rPr lang="en-US" sz="4400" dirty="0">
                <a:solidFill>
                  <a:srgbClr val="000000"/>
                </a:solidFill>
                <a:latin typeface="DM Sans Bold"/>
                <a:ea typeface="DM Sans Bold"/>
                <a:cs typeface="DM Sans Bold"/>
                <a:sym typeface="DM Sans Bold"/>
              </a:rPr>
              <a:t>Data Analysis(EDA)</a:t>
            </a:r>
          </a:p>
        </p:txBody>
      </p:sp>
      <p:sp>
        <p:nvSpPr>
          <p:cNvPr id="7" name="TextBox 6">
            <a:extLst>
              <a:ext uri="{FF2B5EF4-FFF2-40B4-BE49-F238E27FC236}">
                <a16:creationId xmlns:a16="http://schemas.microsoft.com/office/drawing/2014/main" id="{B6FDF09D-B212-DDF6-ECFF-D90477B9D9F8}"/>
              </a:ext>
            </a:extLst>
          </p:cNvPr>
          <p:cNvSpPr txBox="1"/>
          <p:nvPr/>
        </p:nvSpPr>
        <p:spPr>
          <a:xfrm>
            <a:off x="336883" y="1008202"/>
            <a:ext cx="6128084" cy="6256200"/>
          </a:xfrm>
          <a:prstGeom prst="rect">
            <a:avLst/>
          </a:prstGeom>
          <a:noFill/>
        </p:spPr>
        <p:txBody>
          <a:bodyPr wrap="square">
            <a:spAutoFit/>
          </a:bodyPr>
          <a:lstStyle/>
          <a:p>
            <a:pPr marL="956062" lvl="1" indent="-478031" algn="just">
              <a:lnSpc>
                <a:spcPts val="4782"/>
              </a:lnSpc>
              <a:buFont typeface="Arial"/>
              <a:buChar char="•"/>
            </a:pPr>
            <a:r>
              <a:rPr lang="en-US" sz="2000" dirty="0">
                <a:solidFill>
                  <a:srgbClr val="000000"/>
                </a:solidFill>
                <a:latin typeface="DM Sans"/>
                <a:ea typeface="DM Sans"/>
                <a:cs typeface="DM Sans"/>
                <a:sym typeface="DM Sans"/>
              </a:rPr>
              <a:t>Performed Exploratory Data Analysis (EDA) to study:</a:t>
            </a:r>
          </a:p>
          <a:p>
            <a:pPr marL="1912124" lvl="2" indent="-637375" algn="just">
              <a:lnSpc>
                <a:spcPts val="4782"/>
              </a:lnSpc>
              <a:buFont typeface="Arial"/>
              <a:buChar char="⚬"/>
            </a:pPr>
            <a:r>
              <a:rPr lang="en-US" sz="2000" dirty="0">
                <a:solidFill>
                  <a:srgbClr val="000000"/>
                </a:solidFill>
                <a:latin typeface="DM Sans"/>
                <a:ea typeface="DM Sans"/>
                <a:cs typeface="DM Sans"/>
                <a:sym typeface="DM Sans"/>
              </a:rPr>
              <a:t>Price distribution</a:t>
            </a:r>
          </a:p>
          <a:p>
            <a:pPr marL="1912124" lvl="2" indent="-637375" algn="just">
              <a:lnSpc>
                <a:spcPts val="4782"/>
              </a:lnSpc>
              <a:buFont typeface="Arial"/>
              <a:buChar char="⚬"/>
            </a:pPr>
            <a:r>
              <a:rPr lang="en-US" sz="2000" dirty="0">
                <a:solidFill>
                  <a:srgbClr val="000000"/>
                </a:solidFill>
                <a:latin typeface="DM Sans"/>
                <a:ea typeface="DM Sans"/>
                <a:cs typeface="DM Sans"/>
                <a:sym typeface="DM Sans"/>
              </a:rPr>
              <a:t>Rating trends</a:t>
            </a:r>
          </a:p>
          <a:p>
            <a:pPr marL="1912124" lvl="2" indent="-637375" algn="just">
              <a:lnSpc>
                <a:spcPts val="4782"/>
              </a:lnSpc>
              <a:buFont typeface="Arial"/>
              <a:buChar char="⚬"/>
            </a:pPr>
            <a:r>
              <a:rPr lang="en-US" sz="2000" dirty="0">
                <a:solidFill>
                  <a:srgbClr val="000000"/>
                </a:solidFill>
                <a:latin typeface="DM Sans"/>
                <a:ea typeface="DM Sans"/>
                <a:cs typeface="DM Sans"/>
                <a:sym typeface="DM Sans"/>
              </a:rPr>
              <a:t>Category-wise product distribution</a:t>
            </a:r>
          </a:p>
          <a:p>
            <a:pPr marL="1912124" lvl="2" indent="-637375" algn="just">
              <a:lnSpc>
                <a:spcPts val="4782"/>
              </a:lnSpc>
              <a:buFont typeface="Arial"/>
              <a:buChar char="⚬"/>
            </a:pPr>
            <a:r>
              <a:rPr lang="en-US" sz="2000" dirty="0">
                <a:solidFill>
                  <a:srgbClr val="000000"/>
                </a:solidFill>
                <a:latin typeface="DM Sans"/>
                <a:ea typeface="DM Sans"/>
                <a:cs typeface="DM Sans"/>
                <a:sym typeface="DM Sans"/>
              </a:rPr>
              <a:t>Review count patterns</a:t>
            </a:r>
          </a:p>
          <a:p>
            <a:pPr algn="just">
              <a:lnSpc>
                <a:spcPts val="4782"/>
              </a:lnSpc>
            </a:pPr>
            <a:r>
              <a:rPr lang="en-US" sz="2000" dirty="0">
                <a:solidFill>
                  <a:srgbClr val="000000"/>
                </a:solidFill>
                <a:latin typeface="DM Sans"/>
                <a:ea typeface="DM Sans"/>
                <a:cs typeface="DM Sans"/>
                <a:sym typeface="DM Sans"/>
              </a:rPr>
              <a:t> EDA helped identify outliers, popular categories, and highly rated products.</a:t>
            </a:r>
          </a:p>
          <a:p>
            <a:pPr algn="just">
              <a:lnSpc>
                <a:spcPts val="4782"/>
              </a:lnSpc>
            </a:pPr>
            <a:endParaRPr lang="en-US" sz="4428"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239459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E4FC6B-2BBF-37D4-F0C4-8DAC2E862EA1}"/>
              </a:ext>
            </a:extLst>
          </p:cNvPr>
          <p:cNvSpPr txBox="1"/>
          <p:nvPr/>
        </p:nvSpPr>
        <p:spPr>
          <a:xfrm>
            <a:off x="-64168" y="1615136"/>
            <a:ext cx="6160168" cy="863634"/>
          </a:xfrm>
          <a:prstGeom prst="rect">
            <a:avLst/>
          </a:prstGeom>
          <a:noFill/>
        </p:spPr>
        <p:txBody>
          <a:bodyPr wrap="square">
            <a:spAutoFit/>
          </a:bodyPr>
          <a:lstStyle/>
          <a:p>
            <a:pPr algn="just">
              <a:lnSpc>
                <a:spcPts val="6842"/>
              </a:lnSpc>
            </a:pPr>
            <a:r>
              <a:rPr lang="en-US" sz="3200" b="1" dirty="0">
                <a:solidFill>
                  <a:srgbClr val="000000"/>
                </a:solidFill>
                <a:latin typeface="DM Sans Bold"/>
                <a:ea typeface="DM Sans Bold"/>
                <a:cs typeface="DM Sans Bold"/>
                <a:sym typeface="DM Sans Bold"/>
              </a:rPr>
              <a:t> &lt; Price Distribution</a:t>
            </a:r>
          </a:p>
        </p:txBody>
      </p:sp>
      <p:sp>
        <p:nvSpPr>
          <p:cNvPr id="9" name="TextBox 8">
            <a:extLst>
              <a:ext uri="{FF2B5EF4-FFF2-40B4-BE49-F238E27FC236}">
                <a16:creationId xmlns:a16="http://schemas.microsoft.com/office/drawing/2014/main" id="{C6FA0E27-569F-390F-17D5-213EDB2922D3}"/>
              </a:ext>
            </a:extLst>
          </p:cNvPr>
          <p:cNvSpPr txBox="1"/>
          <p:nvPr/>
        </p:nvSpPr>
        <p:spPr>
          <a:xfrm>
            <a:off x="0" y="4584849"/>
            <a:ext cx="6160168" cy="863634"/>
          </a:xfrm>
          <a:prstGeom prst="rect">
            <a:avLst/>
          </a:prstGeom>
          <a:noFill/>
        </p:spPr>
        <p:txBody>
          <a:bodyPr wrap="square">
            <a:spAutoFit/>
          </a:bodyPr>
          <a:lstStyle/>
          <a:p>
            <a:pPr algn="just">
              <a:lnSpc>
                <a:spcPts val="6842"/>
              </a:lnSpc>
            </a:pPr>
            <a:r>
              <a:rPr lang="en-US" sz="3200" b="1" dirty="0">
                <a:solidFill>
                  <a:srgbClr val="000000"/>
                </a:solidFill>
                <a:latin typeface="DM Sans Bold"/>
                <a:ea typeface="DM Sans Bold"/>
                <a:cs typeface="DM Sans Bold"/>
                <a:sym typeface="DM Sans Bold"/>
              </a:rPr>
              <a:t>&lt; Correlation Heatmap</a:t>
            </a:r>
          </a:p>
        </p:txBody>
      </p:sp>
      <p:pic>
        <p:nvPicPr>
          <p:cNvPr id="1028" name="Picture 4">
            <a:extLst>
              <a:ext uri="{FF2B5EF4-FFF2-40B4-BE49-F238E27FC236}">
                <a16:creationId xmlns:a16="http://schemas.microsoft.com/office/drawing/2014/main" id="{5B6EA6B3-F20E-770F-9364-0987FF7F3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404" y="308912"/>
            <a:ext cx="7148052" cy="26793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F568702-8D1D-CC17-72DC-BA1B75398B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6403" y="3293806"/>
            <a:ext cx="7148052" cy="3255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15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970A24-61A1-CA4B-88AB-D3E561DD5A7B}"/>
              </a:ext>
            </a:extLst>
          </p:cNvPr>
          <p:cNvSpPr txBox="1"/>
          <p:nvPr/>
        </p:nvSpPr>
        <p:spPr>
          <a:xfrm>
            <a:off x="1876926" y="434860"/>
            <a:ext cx="6384758" cy="1206677"/>
          </a:xfrm>
          <a:prstGeom prst="rect">
            <a:avLst/>
          </a:prstGeom>
          <a:noFill/>
        </p:spPr>
        <p:txBody>
          <a:bodyPr wrap="square">
            <a:spAutoFit/>
          </a:bodyPr>
          <a:lstStyle/>
          <a:p>
            <a:pPr algn="just">
              <a:lnSpc>
                <a:spcPts val="9262"/>
              </a:lnSpc>
            </a:pPr>
            <a:r>
              <a:rPr lang="en-US" sz="6000" b="1" dirty="0">
                <a:solidFill>
                  <a:srgbClr val="000000"/>
                </a:solidFill>
                <a:latin typeface="DM Sans Bold"/>
                <a:ea typeface="DM Sans Bold"/>
                <a:cs typeface="DM Sans Bold"/>
                <a:sym typeface="DM Sans Bold"/>
              </a:rPr>
              <a:t>Data Storage</a:t>
            </a:r>
          </a:p>
        </p:txBody>
      </p:sp>
      <p:sp>
        <p:nvSpPr>
          <p:cNvPr id="5" name="TextBox 4">
            <a:extLst>
              <a:ext uri="{FF2B5EF4-FFF2-40B4-BE49-F238E27FC236}">
                <a16:creationId xmlns:a16="http://schemas.microsoft.com/office/drawing/2014/main" id="{CAED94AF-874B-E71E-6747-55B044ED38D9}"/>
              </a:ext>
            </a:extLst>
          </p:cNvPr>
          <p:cNvSpPr txBox="1"/>
          <p:nvPr/>
        </p:nvSpPr>
        <p:spPr>
          <a:xfrm>
            <a:off x="1203158" y="2039616"/>
            <a:ext cx="6096000" cy="5013104"/>
          </a:xfrm>
          <a:prstGeom prst="rect">
            <a:avLst/>
          </a:prstGeom>
          <a:noFill/>
        </p:spPr>
        <p:txBody>
          <a:bodyPr wrap="square">
            <a:spAutoFit/>
          </a:bodyPr>
          <a:lstStyle/>
          <a:p>
            <a:pPr marL="1036315" lvl="1" indent="-518158" algn="just">
              <a:lnSpc>
                <a:spcPts val="5567"/>
              </a:lnSpc>
              <a:buFont typeface="Arial"/>
              <a:buChar char="•"/>
            </a:pPr>
            <a:r>
              <a:rPr lang="en-US" sz="2000" dirty="0">
                <a:solidFill>
                  <a:srgbClr val="000000"/>
                </a:solidFill>
                <a:latin typeface="DM Sans"/>
                <a:ea typeface="DM Sans"/>
                <a:cs typeface="DM Sans"/>
                <a:sym typeface="DM Sans"/>
              </a:rPr>
              <a:t>A relational database was created using </a:t>
            </a:r>
            <a:r>
              <a:rPr lang="en-US" sz="2000" dirty="0" err="1">
                <a:solidFill>
                  <a:srgbClr val="000000"/>
                </a:solidFill>
                <a:latin typeface="DM Sans"/>
                <a:ea typeface="DM Sans"/>
                <a:cs typeface="DM Sans"/>
                <a:sym typeface="DM Sans"/>
              </a:rPr>
              <a:t>SQLAlchemy</a:t>
            </a:r>
            <a:endParaRPr lang="en-US" sz="2000" dirty="0">
              <a:solidFill>
                <a:srgbClr val="000000"/>
              </a:solidFill>
              <a:latin typeface="DM Sans"/>
              <a:ea typeface="DM Sans"/>
              <a:cs typeface="DM Sans"/>
              <a:sym typeface="DM Sans"/>
            </a:endParaRPr>
          </a:p>
          <a:p>
            <a:pPr marL="1036315" lvl="1" indent="-518158" algn="just">
              <a:lnSpc>
                <a:spcPts val="5567"/>
              </a:lnSpc>
              <a:buFont typeface="Arial"/>
              <a:buChar char="•"/>
            </a:pPr>
            <a:r>
              <a:rPr lang="en-US" sz="2000" dirty="0">
                <a:solidFill>
                  <a:srgbClr val="000000"/>
                </a:solidFill>
                <a:latin typeface="DM Sans"/>
                <a:ea typeface="DM Sans"/>
                <a:cs typeface="DM Sans"/>
                <a:sym typeface="DM Sans"/>
              </a:rPr>
              <a:t>Cleaned data was stored in structured tables</a:t>
            </a:r>
          </a:p>
          <a:p>
            <a:pPr marL="1036315" lvl="1" indent="-518158" algn="just">
              <a:lnSpc>
                <a:spcPts val="5567"/>
              </a:lnSpc>
              <a:buFont typeface="Arial"/>
              <a:buChar char="•"/>
            </a:pPr>
            <a:r>
              <a:rPr lang="en-US" sz="2000" dirty="0">
                <a:solidFill>
                  <a:srgbClr val="000000"/>
                </a:solidFill>
                <a:latin typeface="DM Sans"/>
                <a:ea typeface="DM Sans"/>
                <a:cs typeface="DM Sans"/>
                <a:sym typeface="DM Sans"/>
              </a:rPr>
              <a:t>Enabled efficient querying and reuse of data for modeling</a:t>
            </a:r>
          </a:p>
          <a:p>
            <a:pPr algn="just">
              <a:lnSpc>
                <a:spcPts val="55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35082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E6F6E2-AEA4-DD47-1D61-22D8D296CB25}"/>
              </a:ext>
            </a:extLst>
          </p:cNvPr>
          <p:cNvPicPr>
            <a:picLocks noChangeAspect="1"/>
          </p:cNvPicPr>
          <p:nvPr/>
        </p:nvPicPr>
        <p:blipFill>
          <a:blip r:embed="rId2"/>
          <a:stretch>
            <a:fillRect/>
          </a:stretch>
        </p:blipFill>
        <p:spPr>
          <a:xfrm>
            <a:off x="748374" y="1223271"/>
            <a:ext cx="10950889" cy="2484335"/>
          </a:xfrm>
          <a:prstGeom prst="rect">
            <a:avLst/>
          </a:prstGeom>
        </p:spPr>
      </p:pic>
      <p:pic>
        <p:nvPicPr>
          <p:cNvPr id="8" name="Picture 7">
            <a:extLst>
              <a:ext uri="{FF2B5EF4-FFF2-40B4-BE49-F238E27FC236}">
                <a16:creationId xmlns:a16="http://schemas.microsoft.com/office/drawing/2014/main" id="{F51ED156-CA78-ECF1-14DB-70F0E9DF8B65}"/>
              </a:ext>
            </a:extLst>
          </p:cNvPr>
          <p:cNvPicPr>
            <a:picLocks noChangeAspect="1"/>
          </p:cNvPicPr>
          <p:nvPr/>
        </p:nvPicPr>
        <p:blipFill>
          <a:blip r:embed="rId3"/>
          <a:stretch>
            <a:fillRect/>
          </a:stretch>
        </p:blipFill>
        <p:spPr>
          <a:xfrm>
            <a:off x="740753" y="3707606"/>
            <a:ext cx="10966130" cy="2796782"/>
          </a:xfrm>
          <a:prstGeom prst="rect">
            <a:avLst/>
          </a:prstGeom>
        </p:spPr>
      </p:pic>
    </p:spTree>
    <p:extLst>
      <p:ext uri="{BB962C8B-B14F-4D97-AF65-F5344CB8AC3E}">
        <p14:creationId xmlns:p14="http://schemas.microsoft.com/office/powerpoint/2010/main" val="2085267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64A1B5-C674-A21A-76DE-1C9E19894517}"/>
              </a:ext>
            </a:extLst>
          </p:cNvPr>
          <p:cNvSpPr txBox="1"/>
          <p:nvPr/>
        </p:nvSpPr>
        <p:spPr>
          <a:xfrm>
            <a:off x="465222" y="-391564"/>
            <a:ext cx="10956759" cy="1162691"/>
          </a:xfrm>
          <a:prstGeom prst="rect">
            <a:avLst/>
          </a:prstGeom>
          <a:noFill/>
        </p:spPr>
        <p:txBody>
          <a:bodyPr wrap="square">
            <a:spAutoFit/>
          </a:bodyPr>
          <a:lstStyle/>
          <a:p>
            <a:pPr algn="ctr">
              <a:lnSpc>
                <a:spcPts val="9262"/>
              </a:lnSpc>
            </a:pPr>
            <a:r>
              <a:rPr lang="en-US" sz="4800" b="1" dirty="0">
                <a:solidFill>
                  <a:srgbClr val="000000"/>
                </a:solidFill>
                <a:latin typeface="DM Sans Bold"/>
                <a:ea typeface="DM Sans Bold"/>
                <a:cs typeface="DM Sans Bold"/>
                <a:sym typeface="DM Sans Bold"/>
              </a:rPr>
              <a:t>Unsupervised Learning (Clustering)</a:t>
            </a:r>
          </a:p>
        </p:txBody>
      </p:sp>
      <p:sp>
        <p:nvSpPr>
          <p:cNvPr id="5" name="TextBox 4">
            <a:extLst>
              <a:ext uri="{FF2B5EF4-FFF2-40B4-BE49-F238E27FC236}">
                <a16:creationId xmlns:a16="http://schemas.microsoft.com/office/drawing/2014/main" id="{696B65C9-1A2D-1429-A5EC-1B035323E9B1}"/>
              </a:ext>
            </a:extLst>
          </p:cNvPr>
          <p:cNvSpPr txBox="1"/>
          <p:nvPr/>
        </p:nvSpPr>
        <p:spPr>
          <a:xfrm>
            <a:off x="689811" y="771127"/>
            <a:ext cx="11502189" cy="6382516"/>
          </a:xfrm>
          <a:prstGeom prst="rect">
            <a:avLst/>
          </a:prstGeom>
          <a:noFill/>
        </p:spPr>
        <p:txBody>
          <a:bodyPr wrap="square">
            <a:spAutoFit/>
          </a:bodyPr>
          <a:lstStyle/>
          <a:p>
            <a:pPr algn="just">
              <a:lnSpc>
                <a:spcPts val="4987"/>
              </a:lnSpc>
            </a:pPr>
            <a:r>
              <a:rPr lang="en-US" sz="1600" b="1" dirty="0">
                <a:solidFill>
                  <a:srgbClr val="000000"/>
                </a:solidFill>
                <a:latin typeface="DM Sans Bold"/>
                <a:ea typeface="DM Sans Bold"/>
                <a:cs typeface="DM Sans Bold"/>
                <a:sym typeface="DM Sans Bold"/>
              </a:rPr>
              <a:t>Technique Used</a:t>
            </a:r>
          </a:p>
          <a:p>
            <a:pPr marL="928368" lvl="1" indent="-464184" algn="just">
              <a:lnSpc>
                <a:spcPts val="4987"/>
              </a:lnSpc>
              <a:buFont typeface="Arial"/>
              <a:buChar char="•"/>
            </a:pPr>
            <a:r>
              <a:rPr lang="en-US" sz="1600" dirty="0">
                <a:solidFill>
                  <a:srgbClr val="000000"/>
                </a:solidFill>
                <a:latin typeface="DM Sans"/>
                <a:ea typeface="DM Sans"/>
                <a:cs typeface="DM Sans"/>
                <a:sym typeface="DM Sans"/>
              </a:rPr>
              <a:t>K-Means Clustering</a:t>
            </a:r>
          </a:p>
          <a:p>
            <a:pPr algn="just">
              <a:lnSpc>
                <a:spcPts val="4987"/>
              </a:lnSpc>
            </a:pPr>
            <a:r>
              <a:rPr lang="en-US" sz="1600" b="1" dirty="0">
                <a:solidFill>
                  <a:srgbClr val="000000"/>
                </a:solidFill>
                <a:latin typeface="DM Sans Bold"/>
                <a:ea typeface="DM Sans Bold"/>
                <a:cs typeface="DM Sans Bold"/>
                <a:sym typeface="DM Sans Bold"/>
              </a:rPr>
              <a:t>Process</a:t>
            </a:r>
          </a:p>
          <a:p>
            <a:pPr marL="928368" lvl="1" indent="-464184" algn="just">
              <a:lnSpc>
                <a:spcPts val="4987"/>
              </a:lnSpc>
              <a:buFont typeface="Arial"/>
              <a:buChar char="•"/>
            </a:pPr>
            <a:r>
              <a:rPr lang="en-US" sz="1600" dirty="0">
                <a:solidFill>
                  <a:srgbClr val="000000"/>
                </a:solidFill>
                <a:latin typeface="DM Sans"/>
                <a:ea typeface="DM Sans"/>
                <a:cs typeface="DM Sans"/>
                <a:sym typeface="DM Sans"/>
              </a:rPr>
              <a:t>Selected relevant numerical features</a:t>
            </a:r>
          </a:p>
          <a:p>
            <a:pPr marL="928368" lvl="1" indent="-464184" algn="just">
              <a:lnSpc>
                <a:spcPts val="4987"/>
              </a:lnSpc>
              <a:buFont typeface="Arial"/>
              <a:buChar char="•"/>
            </a:pPr>
            <a:r>
              <a:rPr lang="en-US" sz="1600" dirty="0">
                <a:solidFill>
                  <a:srgbClr val="000000"/>
                </a:solidFill>
                <a:latin typeface="DM Sans"/>
                <a:ea typeface="DM Sans"/>
                <a:cs typeface="DM Sans"/>
                <a:sym typeface="DM Sans"/>
              </a:rPr>
              <a:t>Tested multiple cluster values using the Elbow Method</a:t>
            </a:r>
          </a:p>
          <a:p>
            <a:pPr marL="928368" lvl="1" indent="-464184" algn="just">
              <a:lnSpc>
                <a:spcPts val="4987"/>
              </a:lnSpc>
              <a:buFont typeface="Arial"/>
              <a:buChar char="•"/>
            </a:pPr>
            <a:r>
              <a:rPr lang="en-US" sz="1600" dirty="0">
                <a:solidFill>
                  <a:srgbClr val="000000"/>
                </a:solidFill>
                <a:latin typeface="DM Sans"/>
                <a:ea typeface="DM Sans"/>
                <a:cs typeface="DM Sans"/>
                <a:sym typeface="DM Sans"/>
              </a:rPr>
              <a:t>Assigned cluster labels to each product</a:t>
            </a:r>
          </a:p>
          <a:p>
            <a:pPr algn="just">
              <a:lnSpc>
                <a:spcPts val="4987"/>
              </a:lnSpc>
            </a:pPr>
            <a:r>
              <a:rPr lang="en-US" sz="1600" b="1" dirty="0">
                <a:solidFill>
                  <a:srgbClr val="000000"/>
                </a:solidFill>
                <a:latin typeface="DM Sans Bold"/>
                <a:ea typeface="DM Sans Bold"/>
                <a:cs typeface="DM Sans Bold"/>
                <a:sym typeface="DM Sans Bold"/>
              </a:rPr>
              <a:t>Outcome</a:t>
            </a:r>
          </a:p>
          <a:p>
            <a:pPr marL="928368" lvl="1" indent="-464184" algn="just">
              <a:lnSpc>
                <a:spcPts val="4987"/>
              </a:lnSpc>
              <a:buFont typeface="Arial"/>
              <a:buChar char="•"/>
            </a:pPr>
            <a:r>
              <a:rPr lang="en-US" sz="1600" dirty="0">
                <a:solidFill>
                  <a:srgbClr val="000000"/>
                </a:solidFill>
                <a:latin typeface="DM Sans"/>
                <a:ea typeface="DM Sans"/>
                <a:cs typeface="DM Sans"/>
                <a:sym typeface="DM Sans"/>
              </a:rPr>
              <a:t>Grouped similar products based on price, ratings, and reviews</a:t>
            </a:r>
          </a:p>
          <a:p>
            <a:pPr marL="928368" lvl="1" indent="-464184" algn="just">
              <a:lnSpc>
                <a:spcPts val="4987"/>
              </a:lnSpc>
              <a:buFont typeface="Arial"/>
              <a:buChar char="•"/>
            </a:pPr>
            <a:r>
              <a:rPr lang="en-US" dirty="0">
                <a:solidFill>
                  <a:srgbClr val="000000"/>
                </a:solidFill>
                <a:latin typeface="DM Sans"/>
                <a:ea typeface="DM Sans"/>
                <a:cs typeface="DM Sans"/>
                <a:sym typeface="DM Sans"/>
              </a:rPr>
              <a:t>Helped</a:t>
            </a:r>
            <a:r>
              <a:rPr lang="en-US" sz="1600" dirty="0">
                <a:solidFill>
                  <a:srgbClr val="000000"/>
                </a:solidFill>
                <a:latin typeface="DM Sans"/>
                <a:ea typeface="DM Sans"/>
                <a:cs typeface="DM Sans"/>
                <a:sym typeface="DM Sans"/>
              </a:rPr>
              <a:t> identify premium, mid-range, and budget product clusters</a:t>
            </a:r>
          </a:p>
          <a:p>
            <a:pPr algn="just">
              <a:lnSpc>
                <a:spcPts val="4987"/>
              </a:lnSpc>
            </a:pPr>
            <a:endParaRPr lang="en-US" sz="105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77902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19994DD-A430-E956-461A-8C5064E0B9D1}"/>
              </a:ext>
            </a:extLst>
          </p:cNvPr>
          <p:cNvSpPr txBox="1"/>
          <p:nvPr/>
        </p:nvSpPr>
        <p:spPr>
          <a:xfrm>
            <a:off x="465221" y="1030636"/>
            <a:ext cx="2342147" cy="1446550"/>
          </a:xfrm>
          <a:prstGeom prst="rect">
            <a:avLst/>
          </a:prstGeom>
          <a:noFill/>
        </p:spPr>
        <p:txBody>
          <a:bodyPr wrap="square" rtlCol="0">
            <a:spAutoFit/>
          </a:bodyPr>
          <a:lstStyle/>
          <a:p>
            <a:r>
              <a:rPr lang="en-IN" sz="4400" dirty="0">
                <a:solidFill>
                  <a:srgbClr val="000000"/>
                </a:solidFill>
              </a:rPr>
              <a:t>Elbow Method</a:t>
            </a:r>
          </a:p>
        </p:txBody>
      </p:sp>
      <p:sp>
        <p:nvSpPr>
          <p:cNvPr id="9" name="TextBox 8">
            <a:extLst>
              <a:ext uri="{FF2B5EF4-FFF2-40B4-BE49-F238E27FC236}">
                <a16:creationId xmlns:a16="http://schemas.microsoft.com/office/drawing/2014/main" id="{C8276211-4FB1-CBEC-E307-A948BD955A40}"/>
              </a:ext>
            </a:extLst>
          </p:cNvPr>
          <p:cNvSpPr txBox="1"/>
          <p:nvPr/>
        </p:nvSpPr>
        <p:spPr>
          <a:xfrm>
            <a:off x="465221" y="4138862"/>
            <a:ext cx="2990605" cy="1446550"/>
          </a:xfrm>
          <a:prstGeom prst="rect">
            <a:avLst/>
          </a:prstGeom>
          <a:noFill/>
        </p:spPr>
        <p:txBody>
          <a:bodyPr wrap="square" rtlCol="0">
            <a:spAutoFit/>
          </a:bodyPr>
          <a:lstStyle/>
          <a:p>
            <a:r>
              <a:rPr lang="en-IN" sz="4400" dirty="0">
                <a:solidFill>
                  <a:srgbClr val="000000"/>
                </a:solidFill>
              </a:rPr>
              <a:t>K- Means Clusters</a:t>
            </a:r>
          </a:p>
        </p:txBody>
      </p:sp>
      <p:pic>
        <p:nvPicPr>
          <p:cNvPr id="2050" name="Picture 2">
            <a:extLst>
              <a:ext uri="{FF2B5EF4-FFF2-40B4-BE49-F238E27FC236}">
                <a16:creationId xmlns:a16="http://schemas.microsoft.com/office/drawing/2014/main" id="{F40937C0-B198-88B3-B799-7DADCFBE7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0722" y="127820"/>
            <a:ext cx="8045472" cy="29103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FB36451-0D0C-47A3-7BE3-E68792CB6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0722" y="3559276"/>
            <a:ext cx="8045472" cy="3170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053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9C2B13-997D-1ED1-514D-A0A82CD89903}"/>
              </a:ext>
            </a:extLst>
          </p:cNvPr>
          <p:cNvSpPr txBox="1"/>
          <p:nvPr/>
        </p:nvSpPr>
        <p:spPr>
          <a:xfrm>
            <a:off x="-56147" y="0"/>
            <a:ext cx="9641305" cy="8023543"/>
          </a:xfrm>
          <a:prstGeom prst="rect">
            <a:avLst/>
          </a:prstGeom>
          <a:noFill/>
        </p:spPr>
        <p:txBody>
          <a:bodyPr wrap="square">
            <a:spAutoFit/>
          </a:bodyPr>
          <a:lstStyle/>
          <a:p>
            <a:pPr algn="just">
              <a:lnSpc>
                <a:spcPts val="5683"/>
              </a:lnSpc>
            </a:pPr>
            <a:r>
              <a:rPr lang="en-US" sz="2000" dirty="0">
                <a:solidFill>
                  <a:srgbClr val="000000"/>
                </a:solidFill>
                <a:latin typeface="DM Sans"/>
                <a:ea typeface="DM Sans"/>
                <a:cs typeface="DM Sans"/>
                <a:sym typeface="DM Sans"/>
              </a:rPr>
              <a:t>	Multiple classification models were implemented to predict product 	categories or labels.</a:t>
            </a:r>
          </a:p>
          <a:p>
            <a:pPr algn="just">
              <a:lnSpc>
                <a:spcPts val="5683"/>
              </a:lnSpc>
            </a:pPr>
            <a:endParaRPr lang="en-US" sz="2000" dirty="0">
              <a:solidFill>
                <a:srgbClr val="000000"/>
              </a:solidFill>
              <a:latin typeface="DM Sans"/>
              <a:ea typeface="DM Sans"/>
              <a:cs typeface="DM Sans"/>
              <a:sym typeface="DM Sans"/>
            </a:endParaRPr>
          </a:p>
          <a:p>
            <a:pPr algn="just">
              <a:lnSpc>
                <a:spcPts val="5683"/>
              </a:lnSpc>
            </a:pPr>
            <a:r>
              <a:rPr lang="en-US" sz="2000" b="1" dirty="0">
                <a:solidFill>
                  <a:srgbClr val="000000"/>
                </a:solidFill>
                <a:latin typeface="DM Sans Bold"/>
                <a:ea typeface="DM Sans Bold"/>
                <a:cs typeface="DM Sans Bold"/>
                <a:sym typeface="DM Sans Bold"/>
              </a:rPr>
              <a:t>	Models Used</a:t>
            </a:r>
          </a:p>
          <a:p>
            <a:pPr marL="1515105" lvl="2" indent="-528952" algn="just">
              <a:lnSpc>
                <a:spcPts val="5683"/>
              </a:lnSpc>
              <a:buFont typeface="Arial"/>
              <a:buChar char="•"/>
            </a:pPr>
            <a:r>
              <a:rPr lang="en-US" sz="2000" dirty="0">
                <a:solidFill>
                  <a:srgbClr val="000000"/>
                </a:solidFill>
                <a:latin typeface="DM Sans"/>
                <a:ea typeface="DM Sans"/>
                <a:cs typeface="DM Sans"/>
                <a:sym typeface="DM Sans"/>
              </a:rPr>
              <a:t>Logistic Regression</a:t>
            </a:r>
          </a:p>
          <a:p>
            <a:pPr marL="1515105" lvl="2" indent="-528952" algn="just">
              <a:lnSpc>
                <a:spcPts val="5683"/>
              </a:lnSpc>
              <a:buFont typeface="Arial"/>
              <a:buChar char="•"/>
            </a:pPr>
            <a:r>
              <a:rPr lang="en-US" sz="2000" dirty="0">
                <a:solidFill>
                  <a:srgbClr val="000000"/>
                </a:solidFill>
                <a:latin typeface="DM Sans"/>
                <a:ea typeface="DM Sans"/>
                <a:cs typeface="DM Sans"/>
                <a:sym typeface="DM Sans"/>
              </a:rPr>
              <a:t>Support Vector Machine (SVM)</a:t>
            </a:r>
          </a:p>
          <a:p>
            <a:pPr marL="1515105" lvl="2" indent="-528952" algn="just">
              <a:lnSpc>
                <a:spcPts val="5683"/>
              </a:lnSpc>
              <a:buFont typeface="Arial"/>
              <a:buChar char="•"/>
            </a:pPr>
            <a:r>
              <a:rPr lang="en-US" sz="2000" dirty="0">
                <a:solidFill>
                  <a:srgbClr val="000000"/>
                </a:solidFill>
                <a:latin typeface="DM Sans"/>
                <a:ea typeface="DM Sans"/>
                <a:cs typeface="DM Sans"/>
                <a:sym typeface="DM Sans"/>
              </a:rPr>
              <a:t>k-Nearest Neighbors (k-NN)</a:t>
            </a:r>
          </a:p>
          <a:p>
            <a:pPr marL="1515105" lvl="2" indent="-528952" algn="just">
              <a:lnSpc>
                <a:spcPts val="5683"/>
              </a:lnSpc>
              <a:buFont typeface="Arial"/>
              <a:buChar char="•"/>
            </a:pPr>
            <a:r>
              <a:rPr lang="en-US" sz="2000" dirty="0">
                <a:solidFill>
                  <a:srgbClr val="000000"/>
                </a:solidFill>
                <a:latin typeface="DM Sans"/>
                <a:ea typeface="DM Sans"/>
                <a:cs typeface="DM Sans"/>
                <a:sym typeface="DM Sans"/>
              </a:rPr>
              <a:t>Random Forest</a:t>
            </a:r>
          </a:p>
          <a:p>
            <a:pPr marL="1515105" lvl="2" indent="-528952" algn="just">
              <a:lnSpc>
                <a:spcPts val="5683"/>
              </a:lnSpc>
              <a:buFont typeface="Arial"/>
              <a:buChar char="•"/>
            </a:pPr>
            <a:r>
              <a:rPr lang="en-US" sz="2000" dirty="0" err="1">
                <a:solidFill>
                  <a:srgbClr val="000000"/>
                </a:solidFill>
                <a:latin typeface="DM Sans"/>
                <a:ea typeface="DM Sans"/>
                <a:cs typeface="DM Sans"/>
                <a:sym typeface="DM Sans"/>
              </a:rPr>
              <a:t>XGBoost</a:t>
            </a:r>
            <a:endParaRPr lang="en-US" sz="2000" dirty="0">
              <a:solidFill>
                <a:srgbClr val="000000"/>
              </a:solidFill>
              <a:latin typeface="DM Sans"/>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p:txBody>
      </p:sp>
      <p:sp>
        <p:nvSpPr>
          <p:cNvPr id="5" name="TextBox 4">
            <a:extLst>
              <a:ext uri="{FF2B5EF4-FFF2-40B4-BE49-F238E27FC236}">
                <a16:creationId xmlns:a16="http://schemas.microsoft.com/office/drawing/2014/main" id="{99D86256-AFE7-B8A9-76FC-4DF5D7BE0B09}"/>
              </a:ext>
            </a:extLst>
          </p:cNvPr>
          <p:cNvSpPr txBox="1"/>
          <p:nvPr/>
        </p:nvSpPr>
        <p:spPr>
          <a:xfrm>
            <a:off x="7427495" y="1915995"/>
            <a:ext cx="6128084" cy="2399311"/>
          </a:xfrm>
          <a:prstGeom prst="rect">
            <a:avLst/>
          </a:prstGeom>
          <a:noFill/>
        </p:spPr>
        <p:txBody>
          <a:bodyPr wrap="square">
            <a:spAutoFit/>
          </a:bodyPr>
          <a:lstStyle/>
          <a:p>
            <a:pPr algn="just">
              <a:lnSpc>
                <a:spcPts val="9262"/>
              </a:lnSpc>
            </a:pPr>
            <a:r>
              <a:rPr lang="en-US" sz="6000" b="1" dirty="0">
                <a:solidFill>
                  <a:srgbClr val="000000"/>
                </a:solidFill>
                <a:latin typeface="DM Sans Bold"/>
                <a:ea typeface="DM Sans Bold"/>
                <a:cs typeface="DM Sans Bold"/>
                <a:sym typeface="DM Sans Bold"/>
              </a:rPr>
              <a:t>Supervised Learning</a:t>
            </a:r>
          </a:p>
        </p:txBody>
      </p:sp>
    </p:spTree>
    <p:extLst>
      <p:ext uri="{BB962C8B-B14F-4D97-AF65-F5344CB8AC3E}">
        <p14:creationId xmlns:p14="http://schemas.microsoft.com/office/powerpoint/2010/main" val="79997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C035B-498C-B68A-98AC-2DA9ECCF1407}"/>
              </a:ext>
            </a:extLst>
          </p:cNvPr>
          <p:cNvSpPr txBox="1"/>
          <p:nvPr/>
        </p:nvSpPr>
        <p:spPr>
          <a:xfrm>
            <a:off x="1697790" y="879189"/>
            <a:ext cx="8422105" cy="3331618"/>
          </a:xfrm>
          <a:prstGeom prst="rect">
            <a:avLst/>
          </a:prstGeom>
          <a:noFill/>
        </p:spPr>
        <p:txBody>
          <a:bodyPr wrap="square">
            <a:spAutoFit/>
          </a:bodyPr>
          <a:lstStyle/>
          <a:p>
            <a:pPr algn="just">
              <a:lnSpc>
                <a:spcPts val="9262"/>
              </a:lnSpc>
            </a:pPr>
            <a:endParaRPr lang="en-IN" dirty="0"/>
          </a:p>
          <a:p>
            <a:pPr algn="just">
              <a:lnSpc>
                <a:spcPts val="17905"/>
              </a:lnSpc>
            </a:pPr>
            <a:r>
              <a:rPr lang="en-IN" sz="9600" b="1" i="1" dirty="0">
                <a:solidFill>
                  <a:srgbClr val="942D0B"/>
                </a:solidFill>
                <a:latin typeface="DM Sans Bold Italics"/>
                <a:ea typeface="DM Sans Bold Italics"/>
                <a:cs typeface="DM Sans Bold Italics"/>
                <a:sym typeface="DM Sans Bold Italics"/>
              </a:rPr>
              <a:t>Thank  You !</a:t>
            </a:r>
          </a:p>
        </p:txBody>
      </p:sp>
    </p:spTree>
    <p:extLst>
      <p:ext uri="{BB962C8B-B14F-4D97-AF65-F5344CB8AC3E}">
        <p14:creationId xmlns:p14="http://schemas.microsoft.com/office/powerpoint/2010/main" val="316337483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17</TotalTime>
  <Words>1031</Words>
  <Application>Microsoft Office PowerPoint</Application>
  <PresentationFormat>Widescreen</PresentationFormat>
  <Paragraphs>117</Paragraphs>
  <Slides>14</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Century Gothic</vt:lpstr>
      <vt:lpstr>DM Sans</vt:lpstr>
      <vt:lpstr>DM Sans Bold</vt:lpstr>
      <vt:lpstr>DM Sans Bold Italics</vt:lpstr>
      <vt:lpstr>Segoe UI</vt:lpstr>
      <vt:lpstr>Wingdings 3</vt:lpstr>
      <vt:lpstr>Wisp</vt:lpstr>
      <vt:lpstr>End-to-End E-Commerce  Data Science Analysis and Machine Learning on Flipkart  Product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GOKUL KARTHIKEYAN R</dc:creator>
  <cp:lastModifiedBy>GOKUL KARTHIKEYAN R</cp:lastModifiedBy>
  <cp:revision>2</cp:revision>
  <dcterms:created xsi:type="dcterms:W3CDTF">2026-02-26T04:19:12Z</dcterms:created>
  <dcterms:modified xsi:type="dcterms:W3CDTF">2026-02-26T04:43:52Z</dcterms:modified>
</cp:coreProperties>
</file>